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44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54864" cy="5143500"/>
          </a:xfrm>
          <a:prstGeom prst="rect">
            <a:avLst/>
          </a:prstGeom>
          <a:solidFill>
            <a:srgbClr val="243D6E"/>
          </a:solidFill>
          <a:ln w="12700">
            <a:solidFill>
              <a:srgbClr val="243D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AI211 — Machine Learning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 in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94360" y="3063240"/>
            <a:ext cx="5029200" cy="2286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46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Nikhil RM Varma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538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2024AIB1350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20440" y="3246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 Mistry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3538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2024AIB1368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46520" y="3246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Datt Gupta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35387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2024AIB1377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Shradha Sharma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4069080" cy="374904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Federated Learning?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257300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(FL) is a Machine Learning paradigm introduced for </a:t>
            </a: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model training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owned by each client is 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not shared with other clients or the server. Each client participates in FL by sharing only the </a:t>
            </a: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updates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the raw data.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FL: 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protection and data security — especially important in healthcare, finance, and mobile settings.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FL differs from distributed optimization: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across clients is </a:t>
            </a: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non-IID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single client's local dataset may not represent the overall population.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</a:t>
            </a: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unbalanced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amount of private data varies significantly across clients.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69080" cy="374904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18888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Client Selection?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28032" y="1200477"/>
            <a:ext cx="3767328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client participation leads to: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communication overhead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training time due to stragglers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with poor-quality or highly biased local data negatively impact convergence and final performance of the global model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carefully selecting a 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suitable clients</a:t>
            </a: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round, it is possible to: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communication costs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training efficiency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model performance while preserving data privacy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</a:t>
            </a:r>
            <a:endParaRPr lang="en-US" sz="11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dataset, 50 clients (each with 2 out of 10 digit classes), 10 clients selected per round.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98348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 in Federated Learning  |  AI211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983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2834640" cy="338328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033272"/>
            <a:ext cx="384048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033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41832" y="10698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of DivFL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" y="1499616"/>
            <a:ext cx="2578608" cy="16459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81912"/>
            <a:ext cx="258775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diversity maximization works well in stable environments, but anomalous or poisoned clients produce the most divergent gradients — making them appear as valuable diversity.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concept drift, DivFL actively selects harmful clients, treating poisoned updates as useful diversity. This is a fundamental algorithmic vulnerability.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960120"/>
            <a:ext cx="2834640" cy="338328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9856" y="1033272"/>
            <a:ext cx="384048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033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86200" y="10698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of S-FedAvg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19856" y="1499616"/>
            <a:ext cx="2578608" cy="16459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9856" y="1581912"/>
            <a:ext cx="258775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Shapley-based rewards correctly penalise bad clients via a clean validation set. However, the fixed EMA memory (α = 0.75) decays old scores slowly.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10 rounds, the old positive score still retains (0.75)¹⁰ ≈ 6% influence — taking 10–15 rounds to fully suppress a newly poisoned client.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36208" y="960120"/>
            <a:ext cx="2834640" cy="338328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64224" y="1033272"/>
            <a:ext cx="384048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033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30568" y="10698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64224" y="1499616"/>
            <a:ext cx="2578608" cy="16459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1581912"/>
            <a:ext cx="258775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algorithm that: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Uses Shapley values as principled rewards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Adapts its forgetting speed in real-time when drift is detected — not a fixed memory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Temporarily isolates harmful clients without permanently banning them, since they may represent a valid new data concept.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7472" y="4407408"/>
            <a:ext cx="8449056" cy="45720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FedCADS-UCB: Federated CUSUM-Adaptive Discounted Shapley UCB — bridging drift detection and client selection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 in Federated Learning  |  AI211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983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4160520" cy="11155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" y="105156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McMahan et al., AISTATS 2017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4632" y="12618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FedAvg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527048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FL aggregation. Global model trained by averaging client weight deltas after local SGD. Establishes the communication round framework used throughout our work.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81728" y="960120"/>
            <a:ext cx="4160520" cy="11155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18888" y="105156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Balakrishnan et al., ICLR 2022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18888" y="126187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DivFL — Diverse Client Selection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8888" y="1527048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clients by greedily maximizing gradient diversity via a facility location submodular objective. Greedy solution provides (1−1/e) ≈ 63% optimality guarantee.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2231136"/>
            <a:ext cx="4160520" cy="11155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" y="23225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Nagalapatti &amp; Narayanam, AAAI 2021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" y="25328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S-FedAvg — Game of Gradients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2798064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Monte Carlo Shapley values to measure each client's marginal contribution to validation accuracy. EMA relevance scores and softmax sampling filter irrelevant or harmful clients.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2231136"/>
            <a:ext cx="4160520" cy="11155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18888" y="232257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Jothimurugesan et al., AISTATS 2023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18888" y="25328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under Distributed Concept Drift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18888" y="2798064"/>
            <a:ext cx="3886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global models with time-varying client-cluster assignments. Introduces cross-validation distance for HAC over drifted client models — inspires our dual-model design.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502152"/>
            <a:ext cx="8449056" cy="11155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" y="3593592"/>
            <a:ext cx="8174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A6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Fouad et al., UAI 2020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" y="3803904"/>
            <a:ext cx="8174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 Combinatorial Bandits (CUCB)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4069080"/>
            <a:ext cx="81747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semi-bandit with discounted (CUCB) and sliding-window (CUCB-SW) variants for non-stationary reward environments. Theoretical regret O(T²/³). Basis for our UCB formulation.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8348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 in Federated Learning  |  AI211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983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Task 1: Baseline Client Selection Strategies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DivFL  (Diversity-Aware Federated Learning)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636008" y="9144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S-FedAvg  (Shapley Value-Based Method)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84048" y="3017520"/>
            <a:ext cx="8449056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29768" y="3145536"/>
            <a:ext cx="3986784" cy="1536192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0292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DivFL — Key Insight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3419856"/>
            <a:ext cx="37673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G(S) = Σₖ min_{i∈S} ‖∇Fₖ − ∇Fᵢ‖ (Facility Location — submodular)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(1−1/e) ≈ 63% optimal. Early convergence advantage: covers all digit classes from round 1.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27450" y="3108960"/>
            <a:ext cx="4005070" cy="157276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818888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S-FedAvg — Key Insight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18888" y="3419856"/>
            <a:ext cx="376732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&gt; 0: helpful   |   SV &lt; 0: harmful   |   SV ≈ 0: irrelevant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(α=0.75) smooths scores over time. Softmax sampling ensures higher-score clients get higher selection probability.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4320" y="498348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 in Federated Learning  |  AI211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8229600" y="4983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FA975E5-F866-1A31-11AD-0218ED550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70432"/>
            <a:ext cx="1614567" cy="178308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7DC8FB2-EFC3-BF1E-09B4-CA5F99583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70432"/>
            <a:ext cx="1603957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Task 3: FedCADS-UCB (Proposed Algorithm)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960120"/>
            <a:ext cx="4069080" cy="160020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" y="1069848"/>
            <a:ext cx="329184" cy="32918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069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0881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Statistics &amp; UCB Scoring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" y="1481328"/>
            <a:ext cx="3831336" cy="16459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" y="15270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R̃ₖ(t+1) = γ·R̃ₖ(t) + SVₖ(t)·1[k∈Sₜ]     Ñₖ(t+1) = γ·Ñₖ(t) + 1[k∈Sₜ]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UCBₖ = μ̂ₖ + √(ln(t+1)/Ñₖ)     Exploitation + Exploration bonus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controls forgetting speed. High γ (0.95) = long memory; low γ (0.30) = rapid forgetting.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069080" cy="160020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82312" y="1069848"/>
            <a:ext cx="329184" cy="32918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069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84648" y="10881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CUSUM Drift Detection → Adaptive γ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82312" y="1481328"/>
            <a:ext cx="3831336" cy="16459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52704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gₜ = acc_{t-2} − acc_{t-1}     Cₜ = max(0, C_{t-1} + gₜ − 0.01)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fires when Cₜ &gt; 0.05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discount:  γ(t) = 0.95 − 0.65 × min(Cₜ/0.05, 1)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→ γ=0.95   |   Full drift → γ=0.30 (rapid forgetting)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715768"/>
            <a:ext cx="4069080" cy="160020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" y="2825496"/>
            <a:ext cx="329184" cy="32918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28254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843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Debt &amp; Final Score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" y="3236976"/>
            <a:ext cx="3831336" cy="16459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3282696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Dₖ(t) = max(0, Dₖ(t−1) + cₖ − bₖ(t−1))     cₖ = 0.01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score:  Scoreₖ(t) = 0.9 × UCBₖ(t) + 0.1 × Dₖ(t)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client is selected with minimum frequency — model does not forget entire digit classes.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2715768"/>
            <a:ext cx="4069080" cy="1600200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82312" y="2825496"/>
            <a:ext cx="329184" cy="32918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8254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84648" y="2843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+ Two Global Models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82312" y="3236976"/>
            <a:ext cx="3831336" cy="16459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3191256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quarantined if SVₖ &lt; −0.01 for two consecutive rounds.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Qₖ = 10 × 2^min(nₖ−1, 3)  →  10, 20, 40, 80 rounds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suspicion decay (not hard reset) prevents evasion via alternating SV signs.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h_global trains on clean updates; h_drift trains on quarantined updates.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4361688"/>
            <a:ext cx="8449056" cy="457200"/>
          </a:xfrm>
          <a:prstGeom prst="rect">
            <a:avLst/>
          </a:prstGeom>
          <a:solidFill>
            <a:srgbClr val="EBF1FA"/>
          </a:solidFill>
          <a:ln w="12700">
            <a:solidFill>
              <a:srgbClr val="C8D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3616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FedCADS-UCB beats the competition: S-FedAvg has fixed memory (α=0.75)  |  CUCB-SW uses fixed window  |  CUCB-BoB guesses window size  |  FedCADS-UCB directly links CUSUM drift measurement to real-time memory adaptation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8348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 in Federated Learning  |  AI211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0" y="4983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— Task 1 &amp; Task 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DivFL vs S-FedAvg (Stable)</a:t>
            </a:r>
            <a:endParaRPr lang="en-US" sz="1200" dirty="0"/>
          </a:p>
        </p:txBody>
      </p:sp>
      <p:pic>
        <p:nvPicPr>
          <p:cNvPr id="6" name="Image 0" descr="/mnt/user-data/uploads/177880548157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16152"/>
            <a:ext cx="4206240" cy="2834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17720" y="914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Concept Drift at Round 50</a:t>
            </a:r>
            <a:endParaRPr lang="en-US" sz="1200" dirty="0"/>
          </a:p>
        </p:txBody>
      </p:sp>
      <p:pic>
        <p:nvPicPr>
          <p:cNvPr id="8" name="Image 1" descr="/mnt/user-data/uploads/1778805492864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216152"/>
            <a:ext cx="4206240" cy="2834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7472" y="4114800"/>
            <a:ext cx="8449056" cy="658368"/>
          </a:xfrm>
          <a:prstGeom prst="rect">
            <a:avLst/>
          </a:prstGeom>
          <a:solidFill>
            <a:srgbClr val="EBF1FA"/>
          </a:solidFill>
          <a:ln w="12700">
            <a:solidFill>
              <a:srgbClr val="C8D8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13308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takeaway: </a:t>
            </a:r>
            <a:r>
              <a:rPr lang="en-US" sz="10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DivFL converges faster in early rounds (diversity from round 1). Both converge to ~96.8% CNN accuracy by round 100.   </a:t>
            </a:r>
            <a:r>
              <a:rPr lang="en-US" sz="105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takeaway: </a:t>
            </a:r>
            <a:r>
              <a:rPr lang="en-US" sz="1050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DivFL collapses (CNN: 95.87% → 57.46% by round 60, never recovers). S-FedAvg partially recovers via Shapley penalisation but is slow due to fixed EMA α=0.75.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498348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 in Federated Learning  |  AI211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8229600" y="4983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Future Directions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8412480" cy="1828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pic>
        <p:nvPicPr>
          <p:cNvPr id="5" name="Image 0" descr="/mnt/user-data/uploads/177880550952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914400"/>
            <a:ext cx="4846320" cy="292608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960120"/>
          <a:ext cx="3429000" cy="10058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DivFL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95.87%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57.46%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S-FedAvg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FedCADS-UCB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94.60%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6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349240" y="1938528"/>
            <a:ext cx="3429000" cy="438912"/>
          </a:xfrm>
          <a:prstGeom prst="rect">
            <a:avLst/>
          </a:prstGeom>
          <a:solidFill>
            <a:srgbClr val="EBF1FA"/>
          </a:solidFill>
          <a:ln w="12700">
            <a:solidFill>
              <a:srgbClr val="C8D8F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349240" y="1938528"/>
            <a:ext cx="3429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+38.52% over DivFL  |  +16.95% over S-FedAvg</a:t>
            </a:r>
            <a:endParaRPr lang="en-US" sz="1000" dirty="0"/>
          </a:p>
        </p:txBody>
      </p:sp>
      <p:sp>
        <p:nvSpPr>
          <p:cNvPr id="6" name="Shape 5"/>
          <p:cNvSpPr/>
          <p:nvPr/>
        </p:nvSpPr>
        <p:spPr>
          <a:xfrm>
            <a:off x="5303520" y="2487168"/>
            <a:ext cx="3429000" cy="1389888"/>
          </a:xfrm>
          <a:prstGeom prst="rect">
            <a:avLst/>
          </a:prstGeom>
          <a:solidFill>
            <a:srgbClr val="F2F5FC"/>
          </a:solidFill>
          <a:ln w="12700">
            <a:solidFill>
              <a:srgbClr val="C8D8F2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63540" y="241728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303520" y="2633472"/>
            <a:ext cx="3970339" cy="1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multiple simultaneous drift events via full hierarchical client clustering (HAC)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realistic datasets: FEMNIST, CIFAR-10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Communication-aware reward design (latency + gradient quality)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convergence proof with tighter two-regime constants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47472" y="3904488"/>
            <a:ext cx="8449056" cy="822960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39044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FedCADS-UCB achieves 96.95% accuracy at round 100 under concept drift — vs 58.43% for DivFL and ~80% for S-FedAvg.
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CUSUM→γ linkage is a principled, parameter-free mechanism for automatic memory adaptation in non-stationary federated environments.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2C4E"/>
          </a:solidFill>
          <a:ln w="12700">
            <a:solidFill>
              <a:srgbClr val="1A2C4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4320" y="4983480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Selection in Federated Learning  |  AI211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8229600" y="498348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1411</Words>
  <Application>Microsoft Office PowerPoint</Application>
  <PresentationFormat>On-screen Show (16:9)</PresentationFormat>
  <Paragraphs>162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Client Selection in Federated Learning</dc:title>
  <dc:subject>PptxGenJS Presentation</dc:subject>
  <dc:creator>PptxGenJS</dc:creator>
  <cp:lastModifiedBy>Nikhil Varma I</cp:lastModifiedBy>
  <cp:revision>3</cp:revision>
  <dcterms:created xsi:type="dcterms:W3CDTF">2026-05-15T00:49:37Z</dcterms:created>
  <dcterms:modified xsi:type="dcterms:W3CDTF">2026-05-23T14:17:59Z</dcterms:modified>
</cp:coreProperties>
</file>